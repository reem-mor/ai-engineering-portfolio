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PITER AiOps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AI Incident Response Copilot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4904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C8"/>
                </a:solidFill>
              </a:rPr>
              <a:t>From alert storm to structured triage, escalation and resolution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Re'em Mor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606040"/>
            <a:ext cx="38404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C8"/>
                </a:solidFill>
              </a:rPr>
              <a:t>Production Operations Analyst - NOC / SRE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B4C8"/>
                </a:solidFill>
              </a:rPr>
              <a:t>888 Holdings (Evoke)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B4C8"/>
                </a:solidFill>
              </a:rPr>
              <a:t>B.Sc. Computer Science - The Open University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3886200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954780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3EE"/>
                </a:solidFill>
              </a:rPr>
              <a:t>Priority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74520" y="3886200"/>
            <a:ext cx="1417320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9384" y="3954780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Investigation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429000" y="3886200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3954780"/>
            <a:ext cx="850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Triage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26280" y="3886200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1144" y="3954780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Escalation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989320" y="3886200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44184" y="3954780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</a:rPr>
              <a:t>Resolution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360920" y="822960"/>
            <a:ext cx="4023360" cy="4343400"/>
          </a:xfrm>
          <a:prstGeom prst="roundRect">
            <a:avLst>
              <a:gd name="adj" fmla="val 1818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Why I built 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26680" y="1600200"/>
            <a:ext cx="329184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20" dirty="0">
                <a:solidFill>
                  <a:srgbClr val="F8FAFC"/>
                </a:solidFill>
              </a:rPr>
              <a:t>Real NOC pain: too many alerts and too little context</a:t>
            </a:r>
            <a:endParaRPr lang="en-US" sz="1020" dirty="0"/>
          </a:p>
          <a:p>
            <a:r>
              <a:rPr lang="en-US" sz="1020" dirty="0">
                <a:solidFill>
                  <a:srgbClr val="F8FAFC"/>
                </a:solidFill>
              </a:rPr>
              <a:t>Slow handoffs between runbooks, deploys, owners and escalation rules</a:t>
            </a:r>
            <a:endParaRPr lang="en-US" sz="1020" dirty="0"/>
          </a:p>
          <a:p>
            <a:r>
              <a:rPr lang="en-US" sz="1020" dirty="0">
                <a:solidFill>
                  <a:srgbClr val="F8FAFC"/>
                </a:solidFill>
              </a:rPr>
              <a:t>Need for consistent, auditable and safe AI-assisted incident response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818120" y="3749040"/>
            <a:ext cx="502920" cy="502920"/>
          </a:xfrm>
          <a:prstGeom prst="chevron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74904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Goal: reduce MTTR while keeping a human approval gate for risky actions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6510528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PITER AiOps  |  AI-Augmented Software Engineering  |  1 / 7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PITER AiOps solves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1612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C8"/>
                </a:solidFill>
              </a:rPr>
              <a:t>Production alerts become structured, explainable incident decisions.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1B2C"/>
          </a:solidFill>
          <a:ln w="12700">
            <a:solidFill>
              <a:srgbClr val="2538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45720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0136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PROBLEM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" y="20391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Alert storms slow down incident response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450592"/>
            <a:ext cx="2962656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4C8"/>
                </a:solidFill>
              </a:rPr>
              <a:t>Engineers jump between monitoring, runbooks, deploy notes, ownership files and escalation policy. During P1 incidents, this creates delay, inconsistent decisions and compliance risk.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34840" y="16459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1B2C"/>
          </a:solidFill>
          <a:ln w="12700">
            <a:solidFill>
              <a:srgbClr val="2538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645920"/>
            <a:ext cx="45720" cy="18288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80136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D3EE"/>
                </a:solidFill>
              </a:rPr>
              <a:t>USERS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36008" y="20391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NOC, DevOps, SRE and production support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6008" y="2450592"/>
            <a:ext cx="2962656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4C8"/>
                </a:solidFill>
              </a:rPr>
              <a:t>The target user needs fast triage, clear priority, service context, recent deployment checks, similar incidents, business impact and a safe escalation recommendation.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0" y="16459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1B2C"/>
          </a:solidFill>
          <a:ln w="12700">
            <a:solidFill>
              <a:srgbClr val="2538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645920"/>
            <a:ext cx="45720" cy="1828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80136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399"/>
                </a:solidFill>
              </a:rPr>
              <a:t>SOLUTION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430768" y="20391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AI copilot grounded in operations knowledge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30768" y="2450592"/>
            <a:ext cx="2962656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4C8"/>
                </a:solidFill>
              </a:rPr>
              <a:t>A Flask app calls an Amazon Bedrock Agent with a Knowledge Base, memory, history and MCP-style tools to return the PITER response format.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" y="3977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PITER response contract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44805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E17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6085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Priority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5528" y="48737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Classify severity and impact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514600" y="489204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34640" y="44805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E172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44368" y="46085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Investigation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44368" y="48737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Retrieve context and evidence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4663440" y="489204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983480" y="44805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E17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3208" y="46085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Triage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93208" y="48737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Suggest checks and root cause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6812280" y="489204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32320" y="44805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E17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46085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Escalation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42048" y="48737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Find owner and safe preview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961120" y="489204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281160" y="44805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E17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90888" y="46085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Resolution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390888" y="48737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Recommend validation steps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822960" y="571500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1E2B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" y="5824728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BUSINESS VALUE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932688" y="601675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Lower MTTR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606040" y="571500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1E2B4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15768" y="5824728"/>
            <a:ext cx="1563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CONTROL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715768" y="601675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Human approval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663440" y="571500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1E2B4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5824728"/>
            <a:ext cx="1563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TRUST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773168" y="601675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Sources + history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720840" y="57150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1E2B4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30568" y="5824728"/>
            <a:ext cx="14264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DEMO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6830568" y="601675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EC2 + Docker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641080" y="57150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1E2B4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50808" y="5824728"/>
            <a:ext cx="14264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OUTPUT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750808" y="601675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PITER format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94360" y="6510528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PITER AiOps  |  AI-Augmented Software Engineering  |  2 / 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class will see live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1612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C8"/>
                </a:solidFill>
              </a:rPr>
              <a:t>A controlled alert storm becomes a P1 investigation with memory and safe escalation.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6629400" cy="4526280"/>
          </a:xfrm>
          <a:prstGeom prst="roundRect">
            <a:avLst>
              <a:gd name="adj" fmla="val 1616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55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Demo storyline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221992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2290572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0B12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25880" y="22219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Open deployed EC2 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24414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7B4C8"/>
                </a:solidFill>
              </a:rPr>
              <a:t>Live dashboard and source status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1060704" y="2523744"/>
            <a:ext cx="0" cy="338328"/>
          </a:xfrm>
          <a:prstGeom prst="line">
            <a:avLst/>
          </a:prstGeom>
          <a:noFill/>
          <a:ln w="12700">
            <a:solidFill>
              <a:srgbClr val="2030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816352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2884932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0B12"/>
                </a:solidFill>
              </a:rPr>
              <a:t>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325880" y="28163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Start alert stream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25880" y="303580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7B4C8"/>
                </a:solidFill>
              </a:rPr>
              <a:t>Noise suppression and severity distribution update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1060704" y="3118104"/>
            <a:ext cx="0" cy="338328"/>
          </a:xfrm>
          <a:prstGeom prst="line">
            <a:avLst/>
          </a:prstGeom>
          <a:noFill/>
          <a:ln w="12700">
            <a:solidFill>
              <a:srgbClr val="2030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410712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3479292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0B12"/>
                </a:solidFill>
              </a:rPr>
              <a:t>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25880" y="34107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P1 detected after ~200 alerts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36301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7B4C8"/>
                </a:solidFill>
              </a:rPr>
              <a:t>Critical mode, service impact and SLA risk appear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1060704" y="3712464"/>
            <a:ext cx="0" cy="338328"/>
          </a:xfrm>
          <a:prstGeom prst="line">
            <a:avLst/>
          </a:prstGeom>
          <a:noFill/>
          <a:ln w="12700">
            <a:solidFill>
              <a:srgbClr val="2030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005072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4073652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0B12"/>
                </a:solidFill>
              </a:rPr>
              <a:t>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25880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Analyze P1 Incident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25880" y="4224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7B4C8"/>
                </a:solidFill>
              </a:rPr>
              <a:t>Bedrock Agent + KB + tools produce PITER analysis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1060704" y="4306824"/>
            <a:ext cx="0" cy="338328"/>
          </a:xfrm>
          <a:prstGeom prst="line">
            <a:avLst/>
          </a:prstGeom>
          <a:noFill/>
          <a:ln w="12700">
            <a:solidFill>
              <a:srgbClr val="2030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599432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" y="4668012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0B12"/>
                </a:solidFill>
              </a:rPr>
              <a:t>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325880" y="45994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Ask follow-ups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25880" y="481888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7B4C8"/>
                </a:solidFill>
              </a:rPr>
              <a:t>Memory proves context: “What should I check next?”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1060704" y="4901184"/>
            <a:ext cx="0" cy="338328"/>
          </a:xfrm>
          <a:prstGeom prst="line">
            <a:avLst/>
          </a:prstGeom>
          <a:noFill/>
          <a:ln w="12700">
            <a:solidFill>
              <a:srgbClr val="2030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5193792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6696" y="5262372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0B12"/>
                </a:solidFill>
              </a:rPr>
              <a:t>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325880" y="51937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Show history + escalation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325880" y="54132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7B4C8"/>
                </a:solidFill>
              </a:rPr>
              <a:t>Incident history, post-mortem draft and safe email preview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7543800" y="1481328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1755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Visible proof points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909560" y="2176272"/>
            <a:ext cx="32004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860" dirty="0">
                <a:solidFill>
                  <a:srgbClr val="F8FAFC"/>
                </a:solidFill>
              </a:rPr>
              <a:t>RAG answer with sources</a:t>
            </a:r>
            <a:endParaRPr lang="en-US" sz="860" dirty="0"/>
          </a:p>
          <a:p>
            <a:r>
              <a:rPr lang="en-US" sz="860" dirty="0">
                <a:solidFill>
                  <a:srgbClr val="F8FAFC"/>
                </a:solidFill>
              </a:rPr>
              <a:t>boto3 call from Flask to Bedrock Agent</a:t>
            </a:r>
            <a:endParaRPr lang="en-US" sz="860" dirty="0"/>
          </a:p>
          <a:p>
            <a:r>
              <a:rPr lang="en-US" sz="860" dirty="0">
                <a:solidFill>
                  <a:srgbClr val="F8FAFC"/>
                </a:solidFill>
              </a:rPr>
              <a:t>MCP-style tools: deploys, context, similar incidents, escalation</a:t>
            </a:r>
            <a:endParaRPr lang="en-US" sz="860" dirty="0"/>
          </a:p>
          <a:p>
            <a:r>
              <a:rPr lang="en-US" sz="860" dirty="0">
                <a:solidFill>
                  <a:srgbClr val="F8FAFC"/>
                </a:solidFill>
              </a:rPr>
              <a:t>Memory and chat history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7543800" y="370332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140C0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3977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P1 critical moment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818120" y="4416552"/>
            <a:ext cx="31546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</a:rPr>
              <a:t>The dashboard changes from normal operations to critical mode, then displays the main CTA: Analyze P1 Incident.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7818120" y="5650992"/>
            <a:ext cx="2057400" cy="256032"/>
          </a:xfrm>
          <a:prstGeom prst="roundRect">
            <a:avLst>
              <a:gd name="adj" fmla="val 25000"/>
            </a:avLst>
          </a:prstGeom>
          <a:solidFill>
            <a:srgbClr val="1A0B0B"/>
          </a:solidFill>
          <a:ln w="1270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72984" y="5719572"/>
            <a:ext cx="1947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Analyze P1 Incident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012680" y="5650992"/>
            <a:ext cx="1783080" cy="256032"/>
          </a:xfrm>
          <a:prstGeom prst="roundRect">
            <a:avLst>
              <a:gd name="adj" fmla="val 25000"/>
            </a:avLst>
          </a:prstGeom>
          <a:solidFill>
            <a:srgbClr val="16120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67544" y="5719572"/>
            <a:ext cx="1673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Escalation preview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94360" y="6510528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PITER AiOps  |  AI-Augmented Software Engineering  |  3 / 7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flow: alert in, structured decision out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1612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C8"/>
                </a:solidFill>
              </a:rPr>
              <a:t>A deployed Flask app orchestrates memory, Bedrock Agent, RAG and tools.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65960" y="1874520"/>
            <a:ext cx="4572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94760" y="1874520"/>
            <a:ext cx="4572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23560" y="1874520"/>
            <a:ext cx="4572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52360" y="1874520"/>
            <a:ext cx="4572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281160" y="1874520"/>
            <a:ext cx="4572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66560" y="2331720"/>
            <a:ext cx="0" cy="50292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909560" y="3749040"/>
            <a:ext cx="0" cy="-91440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99448" y="3749040"/>
            <a:ext cx="0" cy="-91440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808208" y="3749040"/>
            <a:ext cx="0" cy="-91440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E172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163677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NOC Engineer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" y="190195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alert + follow-up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24688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E17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163677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React Dashboard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78608" y="190195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alerts, chat, history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42976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E17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163677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Flask API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07408" y="190195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routes + validation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61264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E17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63677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Memory + History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36208" y="190195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session context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79552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E17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65008" y="163677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Agent Orchestrator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65008" y="190195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prompt + fallback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97840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E172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93808" y="163677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boto3 Runtime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893808" y="190195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invoke_agent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6126480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0E17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008376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Bedrock Agent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36208" y="327355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Nova Lite + guardrails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7223760" y="3794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E172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33488" y="392277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Knowledge Base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33488" y="418795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S3 docs + CSV/JSON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8641080" y="379476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0E17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50808" y="3922776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4 MCP Tools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50808" y="4187952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Lambda actions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10195560" y="37947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0E17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05288" y="3922776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Safe Escalation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305288" y="418795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B4C8"/>
                </a:solidFill>
              </a:rPr>
              <a:t>SNS/SES preview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31520" y="4983480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0B1220"/>
          </a:solidFill>
          <a:ln w="12700">
            <a:solidFill>
              <a:srgbClr val="1E2B4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52395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Final output: PITER Incident Response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931920" y="5248656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2D3EE"/>
                </a:solidFill>
              </a:rPr>
              <a:t>Priority  |  Investigation  |  Triage  |  Escalation  |  Resolution  |  Sources  |  Confidence  |  Next questions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914400" y="6035040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9264" y="6103620"/>
            <a:ext cx="11704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</a:rPr>
              <a:t>EC2 deployment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377440" y="6035040"/>
            <a:ext cx="914400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32304" y="610362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3EE"/>
                </a:solidFill>
              </a:rPr>
              <a:t>Docker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520440" y="6035040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75304" y="6103620"/>
            <a:ext cx="11704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</a:rPr>
              <a:t>CloudWatch logs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029200" y="603504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84064" y="6103620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Local fallback mode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720840" y="6035040"/>
            <a:ext cx="1554480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75704" y="610362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Human approval gate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94360" y="6510528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PITER AiOps  |  AI-Augmented Software Engineering  |  4 / 7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Prompts, tools, memory and safety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1612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C8"/>
                </a:solidFill>
              </a:rPr>
              <a:t>The agent is designed for operations decisions, not generic chat.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11B2C"/>
          </a:solidFill>
          <a:ln w="12700">
            <a:solidFill>
              <a:srgbClr val="2538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45720" cy="1965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1848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D3EE"/>
                </a:solidFill>
              </a:rPr>
              <a:t>SYSTEM PROMPT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" y="18562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Role and response contract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267712"/>
            <a:ext cx="3145536" cy="10515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4C8"/>
                </a:solidFill>
              </a:rPr>
              <a:t>Act as a professional NOC / DevOps incident assistant. Classify priority, investigate evidence, triage likely causes, recommend escalation and resolution steps, and return the PITER format with sources and confidence.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11B2C"/>
          </a:solidFill>
          <a:ln w="12700">
            <a:solidFill>
              <a:srgbClr val="2538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463040"/>
            <a:ext cx="45720" cy="1965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61848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399"/>
                </a:solidFill>
              </a:rPr>
              <a:t>RAG POLICY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36008" y="18562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Grounded answers only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6008" y="2267712"/>
            <a:ext cx="3145536" cy="10515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4C8"/>
                </a:solidFill>
              </a:rPr>
              <a:t>Use Bedrock Knowledge Base first. If unavailable, use the local project knowledge base and label it as fallback. If the KB lacks evidence, state the gap instead of hallucinating.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0" y="14630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11B2C"/>
          </a:solidFill>
          <a:ln w="12700">
            <a:solidFill>
              <a:srgbClr val="2538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463040"/>
            <a:ext cx="45720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61848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MEMORY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430768" y="18562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Follow-ups and history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30768" y="2267712"/>
            <a:ext cx="3145536" cy="10515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4C8"/>
                </a:solidFill>
              </a:rPr>
              <a:t>Persist session ID, previous messages, selected incident, source labels and investigation history so “What should I check next?” stays connected to the prior alert.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88620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160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MCP-style tools / action groups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572000"/>
            <a:ext cx="47548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870" dirty="0">
                <a:solidFill>
                  <a:srgbClr val="F8FAFC"/>
                </a:solidFill>
              </a:rPr>
              <a:t>get_recent_deployments - connect incident to release changes</a:t>
            </a:r>
            <a:endParaRPr lang="en-US" sz="870" dirty="0"/>
          </a:p>
          <a:p>
            <a:r>
              <a:rPr lang="en-US" sz="870" dirty="0">
                <a:solidFill>
                  <a:srgbClr val="F8FAFC"/>
                </a:solidFill>
              </a:rPr>
              <a:t>get_service_context - owner, tier, dependencies and on-call</a:t>
            </a:r>
            <a:endParaRPr lang="en-US" sz="870" dirty="0"/>
          </a:p>
          <a:p>
            <a:r>
              <a:rPr lang="en-US" sz="870" dirty="0">
                <a:solidFill>
                  <a:srgbClr val="F8FAFC"/>
                </a:solidFill>
              </a:rPr>
              <a:t>find_similar_incidents - past root causes and MTTR</a:t>
            </a:r>
            <a:endParaRPr lang="en-US" sz="870" dirty="0"/>
          </a:p>
          <a:p>
            <a:r>
              <a:rPr lang="en-US" sz="870" dirty="0">
                <a:solidFill>
                  <a:srgbClr val="F8FAFC"/>
                </a:solidFill>
              </a:rPr>
              <a:t>get_escalation_preview - safe owner and message draft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446520" y="38862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4160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How I used AI engineering tools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12280" y="4572000"/>
            <a:ext cx="438912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870" dirty="0">
                <a:solidFill>
                  <a:srgbClr val="F8FAFC"/>
                </a:solidFill>
              </a:rPr>
              <a:t>Cursor and Claude Code for code review, refactoring and test-driven fixes</a:t>
            </a:r>
            <a:endParaRPr lang="en-US" sz="870" dirty="0"/>
          </a:p>
          <a:p>
            <a:r>
              <a:rPr lang="en-US" sz="870" dirty="0">
                <a:solidFill>
                  <a:srgbClr val="F8FAFC"/>
                </a:solidFill>
              </a:rPr>
              <a:t>UI/UX skills for dashboard polish, chat layout, motion and responsive design</a:t>
            </a:r>
            <a:endParaRPr lang="en-US" sz="870" dirty="0"/>
          </a:p>
          <a:p>
            <a:r>
              <a:rPr lang="en-US" sz="870" dirty="0">
                <a:solidFill>
                  <a:srgbClr val="F8FAFC"/>
                </a:solidFill>
              </a:rPr>
              <a:t>Playwright for end-to-end demo flow validation</a:t>
            </a:r>
            <a:endParaRPr lang="en-US" sz="870" dirty="0"/>
          </a:p>
          <a:p>
            <a:r>
              <a:rPr lang="en-US" sz="870" dirty="0">
                <a:solidFill>
                  <a:srgbClr val="F8FAFC"/>
                </a:solidFill>
              </a:rPr>
              <a:t>AWS CLI for Bedrock, EC2, Docker and deployment checks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640080" y="5870448"/>
            <a:ext cx="11018520" cy="347472"/>
          </a:xfrm>
          <a:prstGeom prst="roundRect">
            <a:avLst>
              <a:gd name="adj" fmla="val 21053"/>
            </a:avLst>
          </a:prstGeom>
          <a:solidFill>
            <a:srgbClr val="120F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961888"/>
            <a:ext cx="10424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59E0B"/>
                </a:solidFill>
              </a:rPr>
              <a:t>Safety guardrail: PITER can recommend rollback, failover or escalation, but never executes business-impacting actions without human approval.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594360" y="6510528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PITER AiOps  |  AI-Augmented Software Engineering  |  5 / 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REQUIREMENTS, CHALLENGES AND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demonstrated today and what comes next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1612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C8"/>
                </a:solidFill>
              </a:rPr>
              <a:t>The current build proves the course requirements, then opens a path to a multi-agent operations platform.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Requirement coverage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274320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880" dirty="0">
                <a:solidFill>
                  <a:srgbClr val="F8FAFC"/>
                </a:solidFill>
              </a:rPr>
              <a:t>Flask web application with APIs</a:t>
            </a:r>
            <a:endParaRPr lang="en-US" sz="880" dirty="0"/>
          </a:p>
          <a:p>
            <a:r>
              <a:rPr lang="en-US" sz="880" dirty="0">
                <a:solidFill>
                  <a:srgbClr val="F8FAFC"/>
                </a:solidFill>
              </a:rPr>
              <a:t>RAG over operational documents</a:t>
            </a:r>
            <a:endParaRPr lang="en-US" sz="880" dirty="0"/>
          </a:p>
          <a:p>
            <a:r>
              <a:rPr lang="en-US" sz="880" dirty="0">
                <a:solidFill>
                  <a:srgbClr val="F8FAFC"/>
                </a:solidFill>
              </a:rPr>
              <a:t>Bedrock Agent + Knowledge Base via boto3</a:t>
            </a:r>
            <a:endParaRPr lang="en-US" sz="880" dirty="0"/>
          </a:p>
          <a:p>
            <a:r>
              <a:rPr lang="en-US" sz="880" dirty="0">
                <a:solidFill>
                  <a:srgbClr val="F8FAFC"/>
                </a:solidFill>
              </a:rPr>
              <a:t>Memory and chat history</a:t>
            </a:r>
            <a:endParaRPr lang="en-US" sz="880" dirty="0"/>
          </a:p>
          <a:p>
            <a:r>
              <a:rPr lang="en-US" sz="880" dirty="0">
                <a:solidFill>
                  <a:srgbClr val="F8FAFC"/>
                </a:solidFill>
              </a:rPr>
              <a:t>Pandas / CSV / JSON data processing</a:t>
            </a:r>
            <a:endParaRPr lang="en-US" sz="880" dirty="0"/>
          </a:p>
          <a:p>
            <a:r>
              <a:rPr lang="en-US" sz="880" dirty="0">
                <a:solidFill>
                  <a:srgbClr val="F8FAFC"/>
                </a:solidFill>
              </a:rPr>
              <a:t>4 MCP-style metrics functions</a:t>
            </a:r>
            <a:endParaRPr lang="en-US" sz="880" dirty="0"/>
          </a:p>
          <a:p>
            <a:r>
              <a:rPr lang="en-US" sz="880" dirty="0">
                <a:solidFill>
                  <a:srgbClr val="F8FAFC"/>
                </a:solidFill>
              </a:rPr>
              <a:t>Docker and EC2 deployment</a:t>
            </a:r>
            <a:endParaRPr lang="en-US" sz="880" dirty="0"/>
          </a:p>
          <a:p>
            <a:r>
              <a:rPr lang="en-US" sz="880" dirty="0">
                <a:solidFill>
                  <a:srgbClr val="F8FAFC"/>
                </a:solidFill>
              </a:rPr>
              <a:t>Screenshots and GitHub repo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2628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828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Challenges solved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2286000"/>
            <a:ext cx="27889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880" dirty="0">
                <a:solidFill>
                  <a:srgbClr val="F8FAFC"/>
                </a:solidFill>
              </a:rPr>
              <a:t>Making Bedrock Agent output readable in the UI</a:t>
            </a:r>
            <a:endParaRPr lang="en-US" sz="880" dirty="0"/>
          </a:p>
          <a:p>
            <a:r>
              <a:rPr lang="en-US" sz="880" dirty="0">
                <a:solidFill>
                  <a:srgbClr val="F8FAFC"/>
                </a:solidFill>
              </a:rPr>
              <a:t>Keeping fallback honest and clearly labeled</a:t>
            </a:r>
            <a:endParaRPr lang="en-US" sz="880" dirty="0"/>
          </a:p>
          <a:p>
            <a:r>
              <a:rPr lang="en-US" sz="880" dirty="0">
                <a:solidFill>
                  <a:srgbClr val="F8FAFC"/>
                </a:solidFill>
              </a:rPr>
              <a:t>Designing memory so follow-ups stay contextual</a:t>
            </a:r>
            <a:endParaRPr lang="en-US" sz="880" dirty="0"/>
          </a:p>
          <a:p>
            <a:r>
              <a:rPr lang="en-US" sz="880" dirty="0">
                <a:solidFill>
                  <a:srgbClr val="F8FAFC"/>
                </a:solidFill>
              </a:rPr>
              <a:t>Mapping tools to incident data without unsafe actions</a:t>
            </a:r>
            <a:endParaRPr lang="en-US" sz="880" dirty="0"/>
          </a:p>
          <a:p>
            <a:r>
              <a:rPr lang="en-US" sz="880" dirty="0">
                <a:solidFill>
                  <a:srgbClr val="F8FAFC"/>
                </a:solidFill>
              </a:rPr>
              <a:t>Balancing live AWS dependencies with demo stability</a:t>
            </a:r>
            <a:endParaRPr lang="en-US" sz="880" dirty="0"/>
          </a:p>
          <a:p>
            <a:r>
              <a:rPr lang="en-US" sz="880" dirty="0">
                <a:solidFill>
                  <a:srgbClr val="F8FAFC"/>
                </a:solidFill>
              </a:rPr>
              <a:t>Cleaning old files and keeping the repo presentable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8366760" y="1554480"/>
            <a:ext cx="3154680" cy="4206240"/>
          </a:xfrm>
          <a:prstGeom prst="roundRect">
            <a:avLst>
              <a:gd name="adj" fmla="val 2319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1828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Future roadmap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32520" y="2286000"/>
            <a:ext cx="2359152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840" dirty="0">
                <a:solidFill>
                  <a:srgbClr val="F8FAFC"/>
                </a:solidFill>
              </a:rPr>
              <a:t>Multi-agent enrichment and triage</a:t>
            </a:r>
            <a:endParaRPr lang="en-US" sz="840" dirty="0"/>
          </a:p>
          <a:p>
            <a:r>
              <a:rPr lang="en-US" sz="840" dirty="0">
                <a:solidFill>
                  <a:srgbClr val="F8FAFC"/>
                </a:solidFill>
              </a:rPr>
              <a:t>n8n automation flows for approvals and notifications</a:t>
            </a:r>
            <a:endParaRPr lang="en-US" sz="840" dirty="0"/>
          </a:p>
          <a:p>
            <a:r>
              <a:rPr lang="en-US" sz="840" dirty="0">
                <a:solidFill>
                  <a:srgbClr val="F8FAFC"/>
                </a:solidFill>
              </a:rPr>
              <a:t>MCPs for Grafana, New Relic and Confluence</a:t>
            </a:r>
            <a:endParaRPr lang="en-US" sz="840" dirty="0"/>
          </a:p>
          <a:p>
            <a:r>
              <a:rPr lang="en-US" sz="840" dirty="0">
                <a:solidFill>
                  <a:srgbClr val="F8FAFC"/>
                </a:solidFill>
              </a:rPr>
              <a:t>Customer support complaint search</a:t>
            </a:r>
            <a:endParaRPr lang="en-US" sz="840" dirty="0"/>
          </a:p>
          <a:p>
            <a:r>
              <a:rPr lang="en-US" sz="840" dirty="0">
                <a:solidFill>
                  <a:srgbClr val="F8FAFC"/>
                </a:solidFill>
              </a:rPr>
              <a:t>Outlook maintenance and deployment calendar integration</a:t>
            </a:r>
            <a:endParaRPr lang="en-US" sz="840" dirty="0"/>
          </a:p>
          <a:p>
            <a:r>
              <a:rPr lang="en-US" sz="840" dirty="0">
                <a:solidFill>
                  <a:srgbClr val="F8FAFC"/>
                </a:solidFill>
              </a:rPr>
              <a:t>KPI dashboard: MTTR, ROI, noise, escalation quality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40080" y="594360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091B1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6108192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Golden goal: a responsible human leader receives a full agent-action summary and approves rollback or failover in under 30 seconds when it is safe and justified.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6510528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PITER AiOps  |  AI-Augmented Software Engineering  |  6 / 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68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58952" y="1600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4C8"/>
                </a:solidFill>
              </a:rPr>
              <a:t>I appreciate your time and feedback.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</a:rPr>
              <a:t>PITER AiOps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294436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7B4C8"/>
                </a:solidFill>
              </a:rPr>
              <a:t>Priority  |  Investigation  |  Triage  |  Escalation  |  Resolution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097280" y="340156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Live demo repo, LinkedIn and contact details are on the right.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977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7B4C8"/>
                </a:solidFill>
              </a:rPr>
              <a:t>GitHub: github.com/reem-mor/amdocs-ai-course/tree/main/projects/piter-aiops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7B4C8"/>
                </a:solidFill>
              </a:rPr>
              <a:t>LinkedIn: linkedin.com/in/reemmor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7B4C8"/>
                </a:solidFill>
              </a:rPr>
              <a:t>Email: reem.mor3@gmail.com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</p:sp>
      <p:pic>
        <p:nvPicPr>
          <p:cNvPr id="11" name="Image 0" descr="/mnt/data/github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331720"/>
            <a:ext cx="1371600" cy="1371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27648" y="38587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GitHub repo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549640" y="201168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</p:sp>
      <p:pic>
        <p:nvPicPr>
          <p:cNvPr id="14" name="Image 1" descr="/mnt/data/linkedin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331720"/>
            <a:ext cx="1371600" cy="1371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869680" y="3858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LinkedIn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74920" y="5212080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9784" y="5280660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3EE"/>
                </a:solidFill>
              </a:rPr>
              <a:t>Questions?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594360" y="6510528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PITER AiOps  |  AI-Augmented Software Engineering  |  7 / 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Amdocs AI Engineer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PITER AiOps - Mid-Course Project</dc:title>
  <dc:subject>PITER AiOps Mid-Course Project</dc:subject>
  <dc:creator>Reem Mor</dc:creator>
  <cp:lastModifiedBy>Reem Mor</cp:lastModifiedBy>
  <cp:revision>1</cp:revision>
  <dcterms:created xsi:type="dcterms:W3CDTF">2026-06-10T01:22:25Z</dcterms:created>
  <dcterms:modified xsi:type="dcterms:W3CDTF">2026-06-10T01:22:25Z</dcterms:modified>
</cp:coreProperties>
</file>