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334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5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3.png"/><Relationship Id="rId5" Type="http://schemas.openxmlformats.org/officeDocument/2006/relationships/image" Target="../media/image20.png"/><Relationship Id="rId10" Type="http://schemas.openxmlformats.org/officeDocument/2006/relationships/image" Target="../media/image12.png"/><Relationship Id="rId4" Type="http://schemas.openxmlformats.org/officeDocument/2006/relationships/image" Target="../media/image19.png"/><Relationship Id="rId9" Type="http://schemas.openxmlformats.org/officeDocument/2006/relationships/image" Target="../media/image8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396718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   ·   1 / 6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38912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384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I'm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7498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Re'em Mor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365760" y="157276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Operations Analyst — NOC / SRE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Holdings (Evoke) · regulated online gaming platforms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65760" y="2395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turn daily operational pain into software. automating workflows, optimizing internal tooling, and shipping multi-agent systems with n8n and Claude Code.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39852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riority · </a:t>
            </a: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nvestigation · </a:t>
            </a: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riage · </a:t>
            </a: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scalation · </a:t>
            </a: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esolution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12080" y="502920"/>
            <a:ext cx="3566160" cy="3931920"/>
          </a:xfrm>
          <a:prstGeom prst="roundRect">
            <a:avLst>
              <a:gd name="adj" fmla="val 1538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046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52160" y="722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institution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852160" y="97840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University - B.Sc. Computer Science</a:t>
            </a:r>
            <a:endParaRPr lang="en-US" sz="10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70992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5216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job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52160" y="1883664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database infrastructure across NJ-DGE, database and infrastructure operations across regulated, multi-jurisdiction environments</a:t>
            </a:r>
          </a:p>
          <a:p>
            <a:pPr marL="0" indent="0">
              <a:buNone/>
            </a:pP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61518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852160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852160" y="278892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 pain I lived daily: alert floods, slow triage, inconsistent escalation</a:t>
            </a:r>
            <a:r>
              <a:rPr lang="en-US" sz="1050" dirty="0"/>
              <a:t>.</a:t>
            </a: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0680" y="352044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852160" y="34381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852160" y="369417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turning messy operational knowledge into tools the whole team can use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0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  ·   2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PITER AI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84124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incident-response copilot for production operations teams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0" y="457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in → structured answer out, </a:t>
            </a:r>
            <a:r>
              <a:rPr lang="en-US" sz="1100" b="1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seconds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3619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49047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 and SRE teams drown in alerts. Triage is manual, slow, and depends on tribal knowledge. During a P1–P3 incident, every minute of confusion costs revenue, and in regulated environments, compliance exposure.</a:t>
            </a:r>
          </a:p>
        </p:txBody>
      </p:sp>
      <p:sp>
        <p:nvSpPr>
          <p:cNvPr id="11" name="Shape 8"/>
          <p:cNvSpPr/>
          <p:nvPr/>
        </p:nvSpPr>
        <p:spPr>
          <a:xfrm>
            <a:off x="4663440" y="13716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53619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57800" y="149047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846320" y="18745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analysts and SREs in regulated environments and enterprise companies who need fast, consistent, auditable incident handling.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5760" y="2907792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7238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302666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341071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Bedrock agent receives the alert, retrieves runbooks and incident history via RAG, calls enrichment tools, and returns a structured PITER response: priority, investigation steps, triage, escalation, resolution.</a:t>
            </a:r>
          </a:p>
        </p:txBody>
      </p:sp>
      <p:sp>
        <p:nvSpPr>
          <p:cNvPr id="19" name="Shape 14"/>
          <p:cNvSpPr/>
          <p:nvPr/>
        </p:nvSpPr>
        <p:spPr>
          <a:xfrm>
            <a:off x="4663440" y="2907792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0723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257800" y="302666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useful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4846320" y="323697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MTTR, consistent escalation policy, a built-in audit trail — and a knowledge base that gets smarter with every incident.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365760" y="4425696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= </a:t>
            </a: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0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  ·   3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Technologies used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course requirement, mapped to a real role in the system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4081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1371600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Flask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12064" y="1719072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API, session routing, agent orchestration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18688" y="1261872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40817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30752" y="1371600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364992" y="1719072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NOC console - live alert stream + agent chat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71616" y="1261872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40817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83680" y="1371600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Agent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217920" y="1719072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Lite reasoning core + Guardrails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65760" y="2432304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257860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77824" y="2542032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knowledge base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12064" y="288950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&amp; docs over S3 Vectors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218688" y="2432304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2578608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730752" y="2542032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MCP-style tools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3364992" y="288950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Lambda action groups: deployments, service context, incidents, escalation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071616" y="2432304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2578608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583680" y="2542032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/ SES</a:t>
            </a:r>
            <a:endParaRPr lang="en-US" sz="1250" dirty="0"/>
          </a:p>
        </p:txBody>
      </p:sp>
      <p:sp>
        <p:nvSpPr>
          <p:cNvPr id="29" name="Text 21"/>
          <p:cNvSpPr/>
          <p:nvPr/>
        </p:nvSpPr>
        <p:spPr>
          <a:xfrm>
            <a:off x="6217920" y="288950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escalation — preview-before-send P1 alerts via SMS + email — preview-before-send</a:t>
            </a:r>
          </a:p>
        </p:txBody>
      </p:sp>
      <p:sp>
        <p:nvSpPr>
          <p:cNvPr id="30" name="Shape 22"/>
          <p:cNvSpPr/>
          <p:nvPr/>
        </p:nvSpPr>
        <p:spPr>
          <a:xfrm>
            <a:off x="365760" y="3602736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" y="3749040"/>
            <a:ext cx="274320" cy="27432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877824" y="3712464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CSV/JSON</a:t>
            </a:r>
            <a:endParaRPr lang="en-US" sz="1250" dirty="0"/>
          </a:p>
        </p:txBody>
      </p:sp>
      <p:sp>
        <p:nvSpPr>
          <p:cNvPr id="33" name="Text 24"/>
          <p:cNvSpPr/>
          <p:nvPr/>
        </p:nvSpPr>
        <p:spPr>
          <a:xfrm>
            <a:off x="512064" y="405993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ops dataset. owners, on-call, priority matrix, deploy </a:t>
            </a:r>
            <a:r>
              <a:rPr lang="en-US" sz="100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</a:t>
            </a: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00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dataset</a:t>
            </a:r>
          </a:p>
        </p:txBody>
      </p:sp>
      <p:sp>
        <p:nvSpPr>
          <p:cNvPr id="34" name="Shape 25"/>
          <p:cNvSpPr/>
          <p:nvPr/>
        </p:nvSpPr>
        <p:spPr>
          <a:xfrm>
            <a:off x="3218688" y="3602736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64992" y="3749040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3730752" y="3712464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50" dirty="0"/>
          </a:p>
        </p:txBody>
      </p:sp>
      <p:sp>
        <p:nvSpPr>
          <p:cNvPr id="37" name="Text 27"/>
          <p:cNvSpPr/>
          <p:nvPr/>
        </p:nvSpPr>
        <p:spPr>
          <a:xfrm>
            <a:off x="3364992" y="405993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local run of the full stack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6071616" y="3602736"/>
            <a:ext cx="2706624" cy="1078992"/>
          </a:xfrm>
          <a:prstGeom prst="roundRect">
            <a:avLst>
              <a:gd name="adj" fmla="val 5085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0" y="3749040"/>
            <a:ext cx="274320" cy="27432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583680" y="3712464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250" dirty="0"/>
          </a:p>
        </p:txBody>
      </p:sp>
      <p:sp>
        <p:nvSpPr>
          <p:cNvPr id="41" name="Text 30"/>
          <p:cNvSpPr/>
          <p:nvPr/>
        </p:nvSpPr>
        <p:spPr>
          <a:xfrm>
            <a:off x="6217920" y="405993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repo, branches, README, CI patterns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0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  ·   4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1945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35040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in → resolution out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Intake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21408" y="84124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Backend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77056" y="84124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PITER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32704" y="84124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AI core — Bedrock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88352" y="84124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Output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20240" y="23317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6598A"/>
                </a:solidFill>
              </a:rPr>
              <a:t>▶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75888" y="23317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6598A"/>
                </a:solidFill>
              </a:rPr>
              <a:t>▶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31536" y="23317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6598A"/>
                </a:solidFill>
              </a:rPr>
              <a:t>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7184" y="23317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6598A"/>
                </a:solidFill>
              </a:rPr>
              <a:t>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152144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584"/>
            <a:ext cx="219456" cy="21945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49808" y="11978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SRE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49808" y="14813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alert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65760" y="2103120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94560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49808" y="2148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49808" y="24323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· chat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365760" y="3054096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145536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49808" y="30998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749808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2121408" y="1152144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2848" y="124358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2505456" y="11978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2505456" y="14813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context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121408" y="2103120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2848" y="219456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2505456" y="2148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2505456" y="24323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· fallback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2121408" y="3054096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2848" y="3145536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2505456" y="30998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boto3 runtime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2505456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invoke_agent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877056" y="1152144"/>
            <a:ext cx="1572768" cy="475488"/>
          </a:xfrm>
          <a:prstGeom prst="roundRect">
            <a:avLst>
              <a:gd name="adj" fmla="val 9615"/>
            </a:avLst>
          </a:prstGeom>
          <a:solidFill>
            <a:srgbClr val="0B2A33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2"/>
          <p:cNvSpPr/>
          <p:nvPr/>
        </p:nvSpPr>
        <p:spPr>
          <a:xfrm>
            <a:off x="3877056" y="1152144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3877056" y="1737360"/>
            <a:ext cx="1572768" cy="475488"/>
          </a:xfrm>
          <a:prstGeom prst="roundRect">
            <a:avLst>
              <a:gd name="adj" fmla="val 9615"/>
            </a:avLst>
          </a:prstGeom>
          <a:solidFill>
            <a:srgbClr val="0E2244"/>
          </a:solidFill>
          <a:ln w="9525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3877056" y="173736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3877056" y="2322576"/>
            <a:ext cx="1572768" cy="475488"/>
          </a:xfrm>
          <a:prstGeom prst="roundRect">
            <a:avLst>
              <a:gd name="adj" fmla="val 9615"/>
            </a:avLst>
          </a:prstGeom>
          <a:solidFill>
            <a:srgbClr val="221A40"/>
          </a:solidFill>
          <a:ln w="9525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6"/>
          <p:cNvSpPr/>
          <p:nvPr/>
        </p:nvSpPr>
        <p:spPr>
          <a:xfrm>
            <a:off x="3877056" y="2322576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3877056" y="2907792"/>
            <a:ext cx="1572768" cy="475488"/>
          </a:xfrm>
          <a:prstGeom prst="roundRect">
            <a:avLst>
              <a:gd name="adj" fmla="val 9615"/>
            </a:avLst>
          </a:prstGeom>
          <a:solidFill>
            <a:srgbClr val="33240B"/>
          </a:solidFill>
          <a:ln w="952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8"/>
          <p:cNvSpPr/>
          <p:nvPr/>
        </p:nvSpPr>
        <p:spPr>
          <a:xfrm>
            <a:off x="3877056" y="290779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3877056" y="3493008"/>
            <a:ext cx="1572768" cy="475488"/>
          </a:xfrm>
          <a:prstGeom prst="roundRect">
            <a:avLst>
              <a:gd name="adj" fmla="val 9615"/>
            </a:avLst>
          </a:prstGeom>
          <a:solidFill>
            <a:srgbClr val="0C2B20"/>
          </a:solidFill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0"/>
          <p:cNvSpPr/>
          <p:nvPr/>
        </p:nvSpPr>
        <p:spPr>
          <a:xfrm>
            <a:off x="3877056" y="3493008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5577840" y="1097280"/>
            <a:ext cx="1682496" cy="2871216"/>
          </a:xfrm>
          <a:prstGeom prst="roundRect">
            <a:avLst>
              <a:gd name="adj" fmla="val 4348"/>
            </a:avLst>
          </a:prstGeom>
          <a:solidFill>
            <a:srgbClr val="0D1126"/>
          </a:solidFill>
          <a:ln w="12700">
            <a:solidFill>
              <a:srgbClr val="4C3E8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5632704" y="1207008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4C3E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4144" y="1298448"/>
            <a:ext cx="219456" cy="219456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6016752" y="125272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agent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6016752" y="153619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Lite + Guardrails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5632704" y="2157984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4C3E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24144" y="2249424"/>
            <a:ext cx="219456" cy="219456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6016752" y="22037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57" name="Text 47"/>
          <p:cNvSpPr/>
          <p:nvPr/>
        </p:nvSpPr>
        <p:spPr>
          <a:xfrm>
            <a:off x="6016752" y="2487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docs + CSV/JSON</a:t>
            </a:r>
            <a:endParaRPr lang="en-US" sz="850" dirty="0"/>
          </a:p>
        </p:txBody>
      </p:sp>
      <p:sp>
        <p:nvSpPr>
          <p:cNvPr id="58" name="Shape 48"/>
          <p:cNvSpPr/>
          <p:nvPr/>
        </p:nvSpPr>
        <p:spPr>
          <a:xfrm>
            <a:off x="5632704" y="3108960"/>
            <a:ext cx="1572768" cy="768096"/>
          </a:xfrm>
          <a:prstGeom prst="roundRect">
            <a:avLst>
              <a:gd name="adj" fmla="val 7143"/>
            </a:avLst>
          </a:prstGeom>
          <a:solidFill>
            <a:srgbClr val="111A2E"/>
          </a:solidFill>
          <a:ln w="9525">
            <a:solidFill>
              <a:srgbClr val="4C3E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4144" y="3200400"/>
            <a:ext cx="219456" cy="219456"/>
          </a:xfrm>
          <a:prstGeom prst="rect">
            <a:avLst/>
          </a:prstGeom>
        </p:spPr>
      </p:pic>
      <p:sp>
        <p:nvSpPr>
          <p:cNvPr id="60" name="Text 49"/>
          <p:cNvSpPr/>
          <p:nvPr/>
        </p:nvSpPr>
        <p:spPr>
          <a:xfrm>
            <a:off x="6016752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Lambda tools</a:t>
            </a:r>
            <a:endParaRPr lang="en-US" sz="1000" dirty="0"/>
          </a:p>
        </p:txBody>
      </p:sp>
      <p:sp>
        <p:nvSpPr>
          <p:cNvPr id="61" name="Text 50"/>
          <p:cNvSpPr/>
          <p:nvPr/>
        </p:nvSpPr>
        <p:spPr>
          <a:xfrm>
            <a:off x="6016752" y="34381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MCP-style actions</a:t>
            </a:r>
            <a:endParaRPr lang="en-US" sz="850" dirty="0"/>
          </a:p>
        </p:txBody>
      </p:sp>
      <p:sp>
        <p:nvSpPr>
          <p:cNvPr id="62" name="Shape 51"/>
          <p:cNvSpPr/>
          <p:nvPr/>
        </p:nvSpPr>
        <p:spPr>
          <a:xfrm>
            <a:off x="7388352" y="1152144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7A4A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79792" y="1243584"/>
            <a:ext cx="219456" cy="219456"/>
          </a:xfrm>
          <a:prstGeom prst="rect">
            <a:avLst/>
          </a:prstGeom>
        </p:spPr>
      </p:pic>
      <p:sp>
        <p:nvSpPr>
          <p:cNvPr id="64" name="Text 52"/>
          <p:cNvSpPr/>
          <p:nvPr/>
        </p:nvSpPr>
        <p:spPr>
          <a:xfrm>
            <a:off x="7772400" y="11978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/ SES</a:t>
            </a:r>
            <a:endParaRPr lang="en-US" sz="1000" dirty="0"/>
          </a:p>
        </p:txBody>
      </p:sp>
      <p:sp>
        <p:nvSpPr>
          <p:cNvPr id="65" name="Text 53"/>
          <p:cNvSpPr/>
          <p:nvPr/>
        </p:nvSpPr>
        <p:spPr>
          <a:xfrm>
            <a:off x="7772400" y="14813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· Notify to the on-call · SMS/Email</a:t>
            </a:r>
          </a:p>
        </p:txBody>
      </p:sp>
      <p:sp>
        <p:nvSpPr>
          <p:cNvPr id="66" name="Shape 54"/>
          <p:cNvSpPr/>
          <p:nvPr/>
        </p:nvSpPr>
        <p:spPr>
          <a:xfrm>
            <a:off x="7388352" y="2103120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0E5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7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79792" y="2194560"/>
            <a:ext cx="219456" cy="219456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7772400" y="2148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response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7772400" y="24323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· actions</a:t>
            </a:r>
            <a:endParaRPr lang="en-US" sz="850" dirty="0"/>
          </a:p>
        </p:txBody>
      </p:sp>
      <p:sp>
        <p:nvSpPr>
          <p:cNvPr id="70" name="Shape 57"/>
          <p:cNvSpPr/>
          <p:nvPr/>
        </p:nvSpPr>
        <p:spPr>
          <a:xfrm>
            <a:off x="7388352" y="3054096"/>
            <a:ext cx="1572768" cy="841248"/>
          </a:xfrm>
          <a:prstGeom prst="roundRect">
            <a:avLst>
              <a:gd name="adj" fmla="val 6522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1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79792" y="3145536"/>
            <a:ext cx="219456" cy="219456"/>
          </a:xfrm>
          <a:prstGeom prst="rect">
            <a:avLst/>
          </a:prstGeom>
        </p:spPr>
      </p:pic>
      <p:sp>
        <p:nvSpPr>
          <p:cNvPr id="72" name="Text 58"/>
          <p:cNvSpPr/>
          <p:nvPr/>
        </p:nvSpPr>
        <p:spPr>
          <a:xfrm>
            <a:off x="7772400" y="30998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000" dirty="0"/>
          </a:p>
        </p:txBody>
      </p:sp>
      <p:sp>
        <p:nvSpPr>
          <p:cNvPr id="73" name="Text 59"/>
          <p:cNvSpPr/>
          <p:nvPr/>
        </p:nvSpPr>
        <p:spPr>
          <a:xfrm>
            <a:off x="7772400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learning</a:t>
            </a:r>
            <a:endParaRPr lang="en-US" sz="850" dirty="0"/>
          </a:p>
        </p:txBody>
      </p:sp>
      <p:sp>
        <p:nvSpPr>
          <p:cNvPr id="74" name="Text 60"/>
          <p:cNvSpPr/>
          <p:nvPr/>
        </p:nvSpPr>
        <p:spPr>
          <a:xfrm>
            <a:off x="365760" y="41605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 </a:t>
            </a: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artifacts</a:t>
            </a:r>
            <a:r>
              <a:rPr lang="en-US" sz="1050" dirty="0">
                <a:solidFill>
                  <a:srgbClr val="3D4D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r>
              <a:rPr lang="en-US" sz="1050" dirty="0">
                <a:solidFill>
                  <a:srgbClr val="3D4D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local run</a:t>
            </a:r>
            <a:r>
              <a:rPr lang="en-US" sz="1050" dirty="0">
                <a:solidFill>
                  <a:srgbClr val="3D4D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fallback mode</a:t>
            </a:r>
            <a:endParaRPr lang="en-US" sz="1050" dirty="0"/>
          </a:p>
        </p:txBody>
      </p:sp>
      <p:sp>
        <p:nvSpPr>
          <p:cNvPr id="75" name="Text 61"/>
          <p:cNvSpPr/>
          <p:nvPr/>
        </p:nvSpPr>
        <p:spPr>
          <a:xfrm>
            <a:off x="640080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  </a:t>
            </a:r>
            <a:r>
              <a:rPr lang="en-US" sz="1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  </a:t>
            </a: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0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·   5 / 6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657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74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68680" y="841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streaming alert becomes a P1 escalation — end to end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1480" y="1298448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11480" y="1298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131673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PITER dashboard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Live alert stream in the dark NOC console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627632"/>
            <a:ext cx="0" cy="164592"/>
          </a:xfrm>
          <a:prstGeom prst="line">
            <a:avLst/>
          </a:prstGeom>
          <a:noFill/>
          <a:ln w="12700">
            <a:solidFill>
              <a:srgbClr val="3D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810512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114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18288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Replication-lag alert lands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wallet-service DB lag crosses threshold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2139696"/>
            <a:ext cx="0" cy="164592"/>
          </a:xfrm>
          <a:prstGeom prst="line">
            <a:avLst/>
          </a:prstGeom>
          <a:noFill/>
          <a:ln w="12700">
            <a:solidFill>
              <a:srgbClr val="3D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11480" y="2322576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1148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68680" y="2340864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PITER about the alert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Agent starts the five-stage workflow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2651760"/>
            <a:ext cx="0" cy="164592"/>
          </a:xfrm>
          <a:prstGeom prst="line">
            <a:avLst/>
          </a:prstGeom>
          <a:noFill/>
          <a:ln w="12700">
            <a:solidFill>
              <a:srgbClr val="3D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11480" y="2834640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114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" y="285292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retrieval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Runbook + a similar past incident from the KB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3163824"/>
            <a:ext cx="0" cy="164592"/>
          </a:xfrm>
          <a:prstGeom prst="line">
            <a:avLst/>
          </a:prstGeom>
          <a:noFill/>
          <a:ln w="12700">
            <a:solidFill>
              <a:srgbClr val="3D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11480" y="3346704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114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68680" y="33649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 (MCP)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Recent-deploys Lambda finds wallet-service v4.12.3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3675888"/>
            <a:ext cx="0" cy="164592"/>
          </a:xfrm>
          <a:prstGeom prst="line">
            <a:avLst/>
          </a:prstGeom>
          <a:noFill/>
          <a:ln w="12700">
            <a:solidFill>
              <a:srgbClr val="3D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411480" y="3858768"/>
            <a:ext cx="310896" cy="310896"/>
          </a:xfrm>
          <a:prstGeom prst="ellipse">
            <a:avLst/>
          </a:prstGeom>
          <a:solidFill>
            <a:srgbClr val="111A2E"/>
          </a:solidFill>
          <a:ln w="15875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114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68680" y="387705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escalation + response  </a:t>
            </a: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SMS/email live fires; structured answer with cause, actions, owner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897880" y="1298448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0D1526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080760" y="1444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shown live</a:t>
            </a:r>
            <a:endParaRPr lang="en-US" sz="125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28800"/>
            <a:ext cx="182880" cy="18288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355080" y="18105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application</a:t>
            </a:r>
            <a:endParaRPr lang="en-US" sz="110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212848"/>
            <a:ext cx="182880" cy="18288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355080" y="2194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documents</a:t>
            </a:r>
            <a:endParaRPr lang="en-US" sz="1100" dirty="0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596896"/>
            <a:ext cx="182880" cy="18288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635508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MCP usage</a:t>
            </a:r>
            <a:endParaRPr lang="en-US" sz="110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980944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355080" y="296265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JSON structured data</a:t>
            </a:r>
            <a:endParaRPr lang="en-US" sz="11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364992"/>
            <a:ext cx="182880" cy="18288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355080" y="3346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structured response</a:t>
            </a:r>
            <a:endParaRPr lang="en-US" sz="11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749040"/>
            <a:ext cx="182880" cy="18288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355080" y="37307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Docker</a:t>
            </a:r>
            <a:endParaRPr lang="en-US" sz="1100" dirty="0"/>
          </a:p>
        </p:txBody>
      </p:sp>
      <p:sp>
        <p:nvSpPr>
          <p:cNvPr id="44" name="Text 35"/>
          <p:cNvSpPr/>
          <p:nvPr/>
        </p:nvSpPr>
        <p:spPr>
          <a:xfrm>
            <a:off x="6080760" y="4160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mode keeps the demo alive even if AWS misbehaves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143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PITER AI  ·  AI-Augmented Software Engineering — mid-course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0" y="48143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next steps   ·   6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E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 &amp; next steps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2743200" cy="3310128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 well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30352" y="1645920"/>
            <a:ext cx="24140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agent flow: alert → RAG → tools → structured PITER answer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correlation: deploy → replication lag → similar past incident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escalation: preview first, real SNS/SES only on P1 confirm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fallback keeps the system answering without AWS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46120" y="1051560"/>
            <a:ext cx="2743200" cy="3310128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2161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76472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challenging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410712" y="1645920"/>
            <a:ext cx="24140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path: AgentCore Gateway vs classic action groups (hard cutoff, fallback plan)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streamed agent traces into clean UI events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— an idle OpenSearch collection taught an expensive lesson, moved to S3 Vectors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ingestion: structuring CSV/JSON so retrieval stays precise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126480" y="1051560"/>
            <a:ext cx="2743200" cy="3310128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9525">
            <a:solidFill>
              <a:srgbClr val="2433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21615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656832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version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291072" y="1645920"/>
            <a:ext cx="24140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MCP integration via AgentCore Gateway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monitoring feeds instead of simulated alerts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Auto-remediation runbooks with human approval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Multi-environment awareness across regulated platforms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65760" y="449884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github.com/reem-mor/amdocs-ai-course</a:t>
            </a:r>
            <a:r>
              <a:rPr lang="en-US" sz="1100" dirty="0">
                <a:solidFill>
                  <a:srgbClr val="8A9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branch incidentIQ-midproject   ·   thank you!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899</Words>
  <Application>Microsoft Office PowerPoint</Application>
  <PresentationFormat>On-screen Show (16:9)</PresentationFormat>
  <Paragraphs>145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PITER AI — mid-course project</dc:title>
  <dc:subject>PptxGenJS Presentation</dc:subject>
  <dc:creator>Re'em Mor</dc:creator>
  <cp:lastModifiedBy>Re'Em Mor</cp:lastModifiedBy>
  <cp:revision>4</cp:revision>
  <dcterms:created xsi:type="dcterms:W3CDTF">2026-06-07T20:28:13Z</dcterms:created>
  <dcterms:modified xsi:type="dcterms:W3CDTF">2026-06-10T05:23:50Z</dcterms:modified>
</cp:coreProperties>
</file>