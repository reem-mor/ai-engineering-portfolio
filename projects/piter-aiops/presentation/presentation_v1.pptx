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4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334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689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562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819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5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3.png"/><Relationship Id="rId5" Type="http://schemas.openxmlformats.org/officeDocument/2006/relationships/image" Target="../media/image20.png"/><Relationship Id="rId10" Type="http://schemas.openxmlformats.org/officeDocument/2006/relationships/image" Target="../media/image12.png"/><Relationship Id="rId4" Type="http://schemas.openxmlformats.org/officeDocument/2006/relationships/image" Target="../media/image19.png"/><Relationship Id="rId9" Type="http://schemas.openxmlformats.org/officeDocument/2006/relationships/image" Target="../media/image8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143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AI  ·  AI-Augmented Software Engineering — mid-course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396718" y="48143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   ·   1 / 7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38912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384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I'm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65760" y="74980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E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Re'em Mor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65760" y="15727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Operations Analyst — NOC / SRE</a:t>
            </a:r>
            <a:endParaRPr lang="en-US" sz="1400" dirty="0"/>
          </a:p>
          <a:p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888 Holdings (Evoke) · regulated multi-jurisdiction production environments</a:t>
            </a:r>
          </a:p>
        </p:txBody>
      </p:sp>
      <p:sp>
        <p:nvSpPr>
          <p:cNvPr id="8" name="Text 5"/>
          <p:cNvSpPr/>
          <p:nvPr/>
        </p:nvSpPr>
        <p:spPr>
          <a:xfrm>
            <a:off x="365760" y="239572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with 2+ years in production operations. </a:t>
            </a: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turn daily operational pain into software: automating workflows, optimizing internal tooling, and shipping multi-agent systems with n8n and Claude Code.</a:t>
            </a:r>
          </a:p>
        </p:txBody>
      </p:sp>
      <p:sp>
        <p:nvSpPr>
          <p:cNvPr id="9" name="Text 6"/>
          <p:cNvSpPr/>
          <p:nvPr/>
        </p:nvSpPr>
        <p:spPr>
          <a:xfrm>
            <a:off x="365760" y="39852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riority · </a:t>
            </a: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nvestigation · </a:t>
            </a: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riage · </a:t>
            </a: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scalation · </a:t>
            </a: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esolution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12080" y="502920"/>
            <a:ext cx="3566160" cy="3931920"/>
          </a:xfrm>
          <a:prstGeom prst="roundRect">
            <a:avLst>
              <a:gd name="adj" fmla="val 1538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80467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722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institution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852160" y="97840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University - B.Sc. Computer Science – GPA 91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70992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5216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job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852160" y="188366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years operating production databases and infrastructure across regulated, multi-jurisdiction environments</a:t>
            </a:r>
          </a:p>
          <a:p>
            <a:pPr marL="0" indent="0">
              <a:buNone/>
            </a:pP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61518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52160" y="2532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852160" y="278892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pain I lived daily: alert floods, slow triage, inconsistent escalation</a:t>
            </a:r>
            <a:r>
              <a:rPr lang="en-US" sz="1050" dirty="0"/>
              <a:t>.</a:t>
            </a: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352044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852160" y="3438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note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852160" y="369417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 turning messy operational knowledge into tools the whole team can use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143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AI  ·  AI-Augmented Software Engineering — mid-course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48143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  ·   2 /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E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PITER AI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incident-response copilot for production operations teams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0" y="457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in → structured answer out, </a:t>
            </a:r>
            <a:r>
              <a:rPr lang="en-US" sz="110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seconds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114800" cy="1389888"/>
          </a:xfrm>
          <a:prstGeom prst="roundRect">
            <a:avLst>
              <a:gd name="adj" fmla="val 3947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3619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4904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18745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and SRE teams drown in alerts. Triage is manual, slow, and depends on tribal knowledge. During a P1–P3 incident, every minute of confusion costs revenue, and in regulated environments, compliance exposure.</a:t>
            </a:r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4114800" cy="1389888"/>
          </a:xfrm>
          <a:prstGeom prst="roundRect">
            <a:avLst>
              <a:gd name="adj" fmla="val 3947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53619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4904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46320" y="18745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analysts and SREs in regulated environments and enterprise companies who need fast, consistent, auditable incident handling.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5760" y="2907792"/>
            <a:ext cx="4114800" cy="1389888"/>
          </a:xfrm>
          <a:prstGeom prst="roundRect">
            <a:avLst>
              <a:gd name="adj" fmla="val 3947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7238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30266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" y="341071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Bedrock agent receives the alert, retrieves runbooks and incident history via RAG, calls enrichment tools, and returns a structured PITER response: priority, investigation steps, triage, escalation, resolution.</a:t>
            </a:r>
          </a:p>
        </p:txBody>
      </p:sp>
      <p:sp>
        <p:nvSpPr>
          <p:cNvPr id="19" name="Shape 14"/>
          <p:cNvSpPr/>
          <p:nvPr/>
        </p:nvSpPr>
        <p:spPr>
          <a:xfrm>
            <a:off x="4663440" y="2907792"/>
            <a:ext cx="4114800" cy="1389888"/>
          </a:xfrm>
          <a:prstGeom prst="roundRect">
            <a:avLst>
              <a:gd name="adj" fmla="val 3947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07238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57800" y="30266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useful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846320" y="3236976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MTTR, consistent escalation policy, a built-in audit trail — and a knowledge base that gets smarter with every incident.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65760" y="442569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= </a:t>
            </a: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143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AI  ·  AI-Augmented Software Engineering — mid-course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48143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  ·   3 /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E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course requirement, mapped to a real role in the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706624" cy="1078992"/>
          </a:xfrm>
          <a:prstGeom prst="roundRect">
            <a:avLst>
              <a:gd name="adj" fmla="val 5085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40817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137160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12064" y="1719072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API, session routing, agent orchestration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18688" y="1261872"/>
            <a:ext cx="2706624" cy="1078992"/>
          </a:xfrm>
          <a:prstGeom prst="roundRect">
            <a:avLst>
              <a:gd name="adj" fmla="val 5085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40817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0752" y="137160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364992" y="171907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NOC console - live alert stream + agent chat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261872"/>
            <a:ext cx="2706624" cy="1078992"/>
          </a:xfrm>
          <a:prstGeom prst="roundRect">
            <a:avLst>
              <a:gd name="adj" fmla="val 5085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40817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0" y="137160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Agent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217920" y="1719072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Lite reasoning core + Guardrails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" y="2432304"/>
            <a:ext cx="2706624" cy="1078992"/>
          </a:xfrm>
          <a:prstGeom prst="roundRect">
            <a:avLst>
              <a:gd name="adj" fmla="val 5085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2578608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7824" y="254203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12064" y="2889504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&amp; docs over S3 Vectors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218688" y="2432304"/>
            <a:ext cx="2706624" cy="1078992"/>
          </a:xfrm>
          <a:prstGeom prst="roundRect">
            <a:avLst>
              <a:gd name="adj" fmla="val 5085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2578608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30752" y="254203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MCP-style tools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3364992" y="2889504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Lambda action groups: deployments, service context, incidents, escalation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071616" y="2432304"/>
            <a:ext cx="2706624" cy="1078992"/>
          </a:xfrm>
          <a:prstGeom prst="roundRect">
            <a:avLst>
              <a:gd name="adj" fmla="val 5085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2578608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83680" y="254203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/ SES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6217920" y="2889504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escalation - preview-before-send P1 alerts via SMS + email.</a:t>
            </a:r>
          </a:p>
        </p:txBody>
      </p:sp>
      <p:sp>
        <p:nvSpPr>
          <p:cNvPr id="30" name="Shape 22"/>
          <p:cNvSpPr/>
          <p:nvPr/>
        </p:nvSpPr>
        <p:spPr>
          <a:xfrm>
            <a:off x="365760" y="3602736"/>
            <a:ext cx="2706624" cy="1078992"/>
          </a:xfrm>
          <a:prstGeom prst="roundRect">
            <a:avLst>
              <a:gd name="adj" fmla="val 5085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" y="3749040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77824" y="3712464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CSV/JSON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512064" y="405993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ops dataset, owners, on-call, priority matrix, deploy history.</a:t>
            </a:r>
          </a:p>
        </p:txBody>
      </p:sp>
      <p:sp>
        <p:nvSpPr>
          <p:cNvPr id="34" name="Shape 25"/>
          <p:cNvSpPr/>
          <p:nvPr/>
        </p:nvSpPr>
        <p:spPr>
          <a:xfrm>
            <a:off x="3218688" y="3602736"/>
            <a:ext cx="2706624" cy="1078992"/>
          </a:xfrm>
          <a:prstGeom prst="roundRect">
            <a:avLst>
              <a:gd name="adj" fmla="val 5085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4992" y="3749040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730752" y="3712464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3364992" y="405993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local run of the full stack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6071616" y="3602736"/>
            <a:ext cx="2706624" cy="1078992"/>
          </a:xfrm>
          <a:prstGeom prst="roundRect">
            <a:avLst>
              <a:gd name="adj" fmla="val 5085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7920" y="3749040"/>
            <a:ext cx="274320" cy="27432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583680" y="3712464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250" dirty="0"/>
          </a:p>
        </p:txBody>
      </p:sp>
      <p:sp>
        <p:nvSpPr>
          <p:cNvPr id="41" name="Text 30"/>
          <p:cNvSpPr/>
          <p:nvPr/>
        </p:nvSpPr>
        <p:spPr>
          <a:xfrm>
            <a:off x="6217920" y="405993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repo, branches, README, CI patterns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143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AI  ·  AI-Augmented Software Engineering — mid-course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48143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 ·   4 /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1945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E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0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in → resolution out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Intake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21408" y="841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Backend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77056" y="841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PITER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32704" y="841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AI core — Bedrock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88352" y="841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Output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598A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75888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598A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31536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598A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87184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598A"/>
                </a:solidFill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152144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43584"/>
            <a:ext cx="21945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49808" y="11978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/ SRE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9808" y="14813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alert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65760" y="2103120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94560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9808" y="2148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49808" y="24323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· chat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65760" y="3054096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45536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49808" y="30998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749808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2121408" y="1152144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2848" y="1243584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505456" y="11978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2505456" y="14813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context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2121408" y="2103120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2848" y="2194560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505456" y="2148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2505456" y="24323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· fallback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2121408" y="3054096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2848" y="3145536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505456" y="30998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boto3 runtime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2505456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invoke_agent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3877056" y="1152144"/>
            <a:ext cx="1572768" cy="475488"/>
          </a:xfrm>
          <a:prstGeom prst="roundRect">
            <a:avLst>
              <a:gd name="adj" fmla="val 9615"/>
            </a:avLst>
          </a:prstGeom>
          <a:solidFill>
            <a:srgbClr val="0B2A33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/>
          <p:nvPr/>
        </p:nvSpPr>
        <p:spPr>
          <a:xfrm>
            <a:off x="3877056" y="1152144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3877056" y="1737360"/>
            <a:ext cx="1572768" cy="475488"/>
          </a:xfrm>
          <a:prstGeom prst="roundRect">
            <a:avLst>
              <a:gd name="adj" fmla="val 9615"/>
            </a:avLst>
          </a:prstGeom>
          <a:solidFill>
            <a:srgbClr val="0E2244"/>
          </a:solidFill>
          <a:ln w="952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3877056" y="173736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3877056" y="2322576"/>
            <a:ext cx="1572768" cy="475488"/>
          </a:xfrm>
          <a:prstGeom prst="roundRect">
            <a:avLst>
              <a:gd name="adj" fmla="val 9615"/>
            </a:avLst>
          </a:prstGeom>
          <a:solidFill>
            <a:srgbClr val="221A40"/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/>
          <p:nvPr/>
        </p:nvSpPr>
        <p:spPr>
          <a:xfrm>
            <a:off x="3877056" y="232257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3877056" y="2907792"/>
            <a:ext cx="1572768" cy="475488"/>
          </a:xfrm>
          <a:prstGeom prst="roundRect">
            <a:avLst>
              <a:gd name="adj" fmla="val 9615"/>
            </a:avLst>
          </a:prstGeom>
          <a:solidFill>
            <a:srgbClr val="33240B"/>
          </a:solidFill>
          <a:ln w="952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/>
          <p:nvPr/>
        </p:nvSpPr>
        <p:spPr>
          <a:xfrm>
            <a:off x="3877056" y="290779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050" dirty="0"/>
          </a:p>
        </p:txBody>
      </p:sp>
      <p:sp>
        <p:nvSpPr>
          <p:cNvPr id="47" name="Shape 39"/>
          <p:cNvSpPr/>
          <p:nvPr/>
        </p:nvSpPr>
        <p:spPr>
          <a:xfrm>
            <a:off x="3877056" y="3493008"/>
            <a:ext cx="1572768" cy="475488"/>
          </a:xfrm>
          <a:prstGeom prst="roundRect">
            <a:avLst>
              <a:gd name="adj" fmla="val 9615"/>
            </a:avLst>
          </a:prstGeom>
          <a:solidFill>
            <a:srgbClr val="0C2B20"/>
          </a:solidFill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/>
          <p:nvPr/>
        </p:nvSpPr>
        <p:spPr>
          <a:xfrm>
            <a:off x="3877056" y="349300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49" name="Shape 41"/>
          <p:cNvSpPr/>
          <p:nvPr/>
        </p:nvSpPr>
        <p:spPr>
          <a:xfrm>
            <a:off x="5577840" y="1097280"/>
            <a:ext cx="1682496" cy="2871216"/>
          </a:xfrm>
          <a:prstGeom prst="roundRect">
            <a:avLst>
              <a:gd name="adj" fmla="val 4348"/>
            </a:avLst>
          </a:prstGeom>
          <a:solidFill>
            <a:srgbClr val="0D1126"/>
          </a:solidFill>
          <a:ln w="12700">
            <a:solidFill>
              <a:srgbClr val="4C3E8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2"/>
          <p:cNvSpPr/>
          <p:nvPr/>
        </p:nvSpPr>
        <p:spPr>
          <a:xfrm>
            <a:off x="5632704" y="1207008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4C3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4144" y="1298448"/>
            <a:ext cx="219456" cy="219456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6016752" y="12527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</a:t>
            </a:r>
            <a:endParaRPr lang="en-US" sz="1000" dirty="0"/>
          </a:p>
        </p:txBody>
      </p:sp>
      <p:sp>
        <p:nvSpPr>
          <p:cNvPr id="53" name="Text 44"/>
          <p:cNvSpPr/>
          <p:nvPr/>
        </p:nvSpPr>
        <p:spPr>
          <a:xfrm>
            <a:off x="6016752" y="15361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Lite + Guardrails</a:t>
            </a:r>
            <a:endParaRPr lang="en-US" sz="850" dirty="0"/>
          </a:p>
        </p:txBody>
      </p:sp>
      <p:sp>
        <p:nvSpPr>
          <p:cNvPr id="54" name="Shape 45"/>
          <p:cNvSpPr/>
          <p:nvPr/>
        </p:nvSpPr>
        <p:spPr>
          <a:xfrm>
            <a:off x="5632704" y="2157984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4C3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4144" y="2249424"/>
            <a:ext cx="219456" cy="219456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6016752" y="22037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000" dirty="0"/>
          </a:p>
        </p:txBody>
      </p:sp>
      <p:sp>
        <p:nvSpPr>
          <p:cNvPr id="57" name="Text 47"/>
          <p:cNvSpPr/>
          <p:nvPr/>
        </p:nvSpPr>
        <p:spPr>
          <a:xfrm>
            <a:off x="6016752" y="24871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docs + CSV/JSON</a:t>
            </a:r>
            <a:endParaRPr lang="en-US" sz="850" dirty="0"/>
          </a:p>
        </p:txBody>
      </p:sp>
      <p:sp>
        <p:nvSpPr>
          <p:cNvPr id="58" name="Shape 48"/>
          <p:cNvSpPr/>
          <p:nvPr/>
        </p:nvSpPr>
        <p:spPr>
          <a:xfrm>
            <a:off x="5632704" y="3108960"/>
            <a:ext cx="1572768" cy="768096"/>
          </a:xfrm>
          <a:prstGeom prst="roundRect">
            <a:avLst>
              <a:gd name="adj" fmla="val 7143"/>
            </a:avLst>
          </a:prstGeom>
          <a:solidFill>
            <a:srgbClr val="111A2E"/>
          </a:solidFill>
          <a:ln w="9525">
            <a:solidFill>
              <a:srgbClr val="4C3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4144" y="3200400"/>
            <a:ext cx="219456" cy="219456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6016752" y="3154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Lambda action groups</a:t>
            </a:r>
            <a:endParaRPr lang="en-US" sz="1000" dirty="0"/>
          </a:p>
        </p:txBody>
      </p:sp>
      <p:sp>
        <p:nvSpPr>
          <p:cNvPr id="61" name="Text 50"/>
          <p:cNvSpPr/>
          <p:nvPr/>
        </p:nvSpPr>
        <p:spPr>
          <a:xfrm>
            <a:off x="6016752" y="34381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MCP-style actions</a:t>
            </a:r>
            <a:endParaRPr lang="en-US" sz="850" dirty="0"/>
          </a:p>
        </p:txBody>
      </p:sp>
      <p:sp>
        <p:nvSpPr>
          <p:cNvPr id="62" name="Shape 51"/>
          <p:cNvSpPr/>
          <p:nvPr/>
        </p:nvSpPr>
        <p:spPr>
          <a:xfrm>
            <a:off x="7388352" y="1152144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7A4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79792" y="1243584"/>
            <a:ext cx="219456" cy="219456"/>
          </a:xfrm>
          <a:prstGeom prst="rect">
            <a:avLst/>
          </a:prstGeom>
        </p:spPr>
      </p:pic>
      <p:sp>
        <p:nvSpPr>
          <p:cNvPr id="64" name="Text 52"/>
          <p:cNvSpPr/>
          <p:nvPr/>
        </p:nvSpPr>
        <p:spPr>
          <a:xfrm>
            <a:off x="7772400" y="11978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/ SES</a:t>
            </a:r>
            <a:endParaRPr lang="en-US" sz="1000" dirty="0"/>
          </a:p>
        </p:txBody>
      </p:sp>
      <p:sp>
        <p:nvSpPr>
          <p:cNvPr id="65" name="Text 53"/>
          <p:cNvSpPr/>
          <p:nvPr/>
        </p:nvSpPr>
        <p:spPr>
          <a:xfrm>
            <a:off x="7772400" y="14813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· Notify on-call · SMS/Email</a:t>
            </a:r>
          </a:p>
        </p:txBody>
      </p:sp>
      <p:sp>
        <p:nvSpPr>
          <p:cNvPr id="66" name="Shape 54"/>
          <p:cNvSpPr/>
          <p:nvPr/>
        </p:nvSpPr>
        <p:spPr>
          <a:xfrm>
            <a:off x="7388352" y="2103120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0E5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79792" y="2194560"/>
            <a:ext cx="219456" cy="219456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7772400" y="2148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response</a:t>
            </a:r>
            <a:endParaRPr lang="en-US" sz="1000" dirty="0"/>
          </a:p>
        </p:txBody>
      </p:sp>
      <p:sp>
        <p:nvSpPr>
          <p:cNvPr id="69" name="Text 56"/>
          <p:cNvSpPr/>
          <p:nvPr/>
        </p:nvSpPr>
        <p:spPr>
          <a:xfrm>
            <a:off x="7772400" y="24323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· actions</a:t>
            </a:r>
            <a:endParaRPr lang="en-US" sz="850" dirty="0"/>
          </a:p>
        </p:txBody>
      </p:sp>
      <p:sp>
        <p:nvSpPr>
          <p:cNvPr id="70" name="Shape 57"/>
          <p:cNvSpPr/>
          <p:nvPr/>
        </p:nvSpPr>
        <p:spPr>
          <a:xfrm>
            <a:off x="7388352" y="3054096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79792" y="3145536"/>
            <a:ext cx="219456" cy="219456"/>
          </a:xfrm>
          <a:prstGeom prst="rect">
            <a:avLst/>
          </a:prstGeom>
        </p:spPr>
      </p:pic>
      <p:sp>
        <p:nvSpPr>
          <p:cNvPr id="72" name="Text 58"/>
          <p:cNvSpPr/>
          <p:nvPr/>
        </p:nvSpPr>
        <p:spPr>
          <a:xfrm>
            <a:off x="7772400" y="30998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</a:t>
            </a:r>
            <a:endParaRPr lang="en-US" sz="1000" dirty="0"/>
          </a:p>
        </p:txBody>
      </p:sp>
      <p:sp>
        <p:nvSpPr>
          <p:cNvPr id="73" name="Text 59"/>
          <p:cNvSpPr/>
          <p:nvPr/>
        </p:nvSpPr>
        <p:spPr>
          <a:xfrm>
            <a:off x="7772400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· learning</a:t>
            </a:r>
            <a:endParaRPr lang="en-US" sz="850" dirty="0"/>
          </a:p>
        </p:txBody>
      </p:sp>
      <p:sp>
        <p:nvSpPr>
          <p:cNvPr id="74" name="Text 60"/>
          <p:cNvSpPr/>
          <p:nvPr/>
        </p:nvSpPr>
        <p:spPr>
          <a:xfrm>
            <a:off x="365760" y="41605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 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artifacts</a:t>
            </a:r>
            <a:r>
              <a:rPr lang="en-US" sz="1050" dirty="0">
                <a:solidFill>
                  <a:srgbClr val="3D4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</a:t>
            </a:r>
            <a:r>
              <a:rPr lang="en-US" sz="1050" dirty="0">
                <a:solidFill>
                  <a:srgbClr val="3D4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local run</a:t>
            </a:r>
            <a:r>
              <a:rPr lang="en-US" sz="1050" dirty="0">
                <a:solidFill>
                  <a:srgbClr val="3D4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fallback mode</a:t>
            </a:r>
            <a:endParaRPr lang="en-US" sz="1050" dirty="0"/>
          </a:p>
        </p:txBody>
      </p:sp>
      <p:sp>
        <p:nvSpPr>
          <p:cNvPr id="75" name="Text 61"/>
          <p:cNvSpPr/>
          <p:nvPr/>
        </p:nvSpPr>
        <p:spPr>
          <a:xfrm>
            <a:off x="640080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0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  </a:t>
            </a: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0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 </a:t>
            </a: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0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143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AI  ·  AI-Augmented Software Engineering — mid-course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48143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 ·   5 / 7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65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74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E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68680" y="8412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streaming alert becomes a P1 escalation — end to end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298448"/>
            <a:ext cx="310896" cy="310896"/>
          </a:xfrm>
          <a:prstGeom prst="ellipse">
            <a:avLst/>
          </a:prstGeom>
          <a:solidFill>
            <a:srgbClr val="111A2E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131673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PITER dashboard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Live alert stream in the dark NOC console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1627632"/>
            <a:ext cx="0" cy="164592"/>
          </a:xfrm>
          <a:prstGeom prst="line">
            <a:avLst/>
          </a:prstGeom>
          <a:noFill/>
          <a:ln w="12700">
            <a:solidFill>
              <a:srgbClr val="3D4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1480" y="1810512"/>
            <a:ext cx="310896" cy="310896"/>
          </a:xfrm>
          <a:prstGeom prst="ellipse">
            <a:avLst/>
          </a:prstGeom>
          <a:solidFill>
            <a:srgbClr val="111A2E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14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18288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Replication-lag alert lands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wallet-service DB lag crosses threshold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2139696"/>
            <a:ext cx="0" cy="164592"/>
          </a:xfrm>
          <a:prstGeom prst="line">
            <a:avLst/>
          </a:prstGeom>
          <a:noFill/>
          <a:ln w="12700">
            <a:solidFill>
              <a:srgbClr val="3D4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11480" y="2322576"/>
            <a:ext cx="310896" cy="310896"/>
          </a:xfrm>
          <a:prstGeom prst="ellipse">
            <a:avLst/>
          </a:prstGeom>
          <a:solidFill>
            <a:srgbClr val="111A2E"/>
          </a:solidFill>
          <a:ln w="1587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1148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8680" y="2340864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PITER about the alert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starts the five-stage workflow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66928" y="2651760"/>
            <a:ext cx="0" cy="164592"/>
          </a:xfrm>
          <a:prstGeom prst="line">
            <a:avLst/>
          </a:prstGeom>
          <a:noFill/>
          <a:ln w="12700">
            <a:solidFill>
              <a:srgbClr val="3D4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11480" y="2834640"/>
            <a:ext cx="310896" cy="310896"/>
          </a:xfrm>
          <a:prstGeom prst="ellipse">
            <a:avLst/>
          </a:prstGeom>
          <a:solidFill>
            <a:srgbClr val="111A2E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114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68680" y="285292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Runbook + a similar past incident from the KB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6928" y="3163824"/>
            <a:ext cx="0" cy="164592"/>
          </a:xfrm>
          <a:prstGeom prst="line">
            <a:avLst/>
          </a:prstGeom>
          <a:noFill/>
          <a:ln w="12700">
            <a:solidFill>
              <a:srgbClr val="3D4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11480" y="3346704"/>
            <a:ext cx="310896" cy="310896"/>
          </a:xfrm>
          <a:prstGeom prst="ellipse">
            <a:avLst/>
          </a:prstGeom>
          <a:solidFill>
            <a:srgbClr val="111A2E"/>
          </a:solidFill>
          <a:ln w="158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11480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68680" y="33649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(MCP)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Recent-deploys Lambda finds wallet-service v4.12.3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66928" y="3675888"/>
            <a:ext cx="0" cy="164592"/>
          </a:xfrm>
          <a:prstGeom prst="line">
            <a:avLst/>
          </a:prstGeom>
          <a:noFill/>
          <a:ln w="12700">
            <a:solidFill>
              <a:srgbClr val="3D4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11480" y="3858768"/>
            <a:ext cx="310896" cy="310896"/>
          </a:xfrm>
          <a:prstGeom prst="ellipse">
            <a:avLst/>
          </a:prstGeom>
          <a:solidFill>
            <a:srgbClr val="111A2E"/>
          </a:solidFill>
          <a:ln w="15875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1148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68680" y="387705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escalation + response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Live SMS/email fires, structured answer with cause, actions, owner.</a:t>
            </a:r>
          </a:p>
        </p:txBody>
      </p:sp>
      <p:sp>
        <p:nvSpPr>
          <p:cNvPr id="30" name="Shape 27"/>
          <p:cNvSpPr/>
          <p:nvPr/>
        </p:nvSpPr>
        <p:spPr>
          <a:xfrm>
            <a:off x="5897880" y="1298448"/>
            <a:ext cx="2880360" cy="3017520"/>
          </a:xfrm>
          <a:prstGeom prst="roundRect">
            <a:avLst>
              <a:gd name="adj" fmla="val 1905"/>
            </a:avLst>
          </a:prstGeom>
          <a:solidFill>
            <a:srgbClr val="0D1526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08076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shown live</a:t>
            </a:r>
            <a:endParaRPr lang="en-US" sz="125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828800"/>
            <a:ext cx="182880" cy="18288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355080" y="18105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application</a:t>
            </a:r>
            <a:endParaRPr lang="en-US" sz="11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212848"/>
            <a:ext cx="182880" cy="1828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35508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documents</a:t>
            </a:r>
            <a:endParaRPr lang="en-US" sz="11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596896"/>
            <a:ext cx="182880" cy="1828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355080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MCP usage</a:t>
            </a:r>
            <a:endParaRPr lang="en-US" sz="11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980944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355080" y="29626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JSON structured data</a:t>
            </a:r>
            <a:endParaRPr lang="en-US" sz="11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364992"/>
            <a:ext cx="182880" cy="18288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355080" y="3346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structured response</a:t>
            </a:r>
            <a:endParaRPr lang="en-US" sz="11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749040"/>
            <a:ext cx="182880" cy="18288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355080" y="37307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Docker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6080760" y="4160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 keeps the demo alive even if AWS misbehaves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143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AI  ·  AI-Augmented Software Engineering — mid-course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48143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next steps   ·   6 /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E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743200" cy="3310128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161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1188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well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30352" y="1645920"/>
            <a:ext cx="241401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agent flow: alert → RAG → tools → structured PITER answer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 correlation: deploy → replication lag → similar past incident Safe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escalation: preview first, real SNS/SES only on P1 confirm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fallback keeps the system answering without AWS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051560"/>
            <a:ext cx="2743200" cy="3310128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2161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76472" y="1188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challenging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10712" y="1645920"/>
            <a:ext cx="241401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path: AgentCore Gateway vs classic action groups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 - an idle OpenSearch collection caused unexpected charges. moved to S3 Vectors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ingestion: structuring CSV/JSON so retrieval stays precise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tuning - strict enough to block unsafe actions, loose enough to not reject legitimate incident questions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safety - agent reads and recommends. business impact requires human confirmation</a:t>
            </a:r>
          </a:p>
        </p:txBody>
      </p:sp>
      <p:sp>
        <p:nvSpPr>
          <p:cNvPr id="13" name="Shape 9"/>
          <p:cNvSpPr/>
          <p:nvPr/>
        </p:nvSpPr>
        <p:spPr>
          <a:xfrm>
            <a:off x="6126480" y="1051560"/>
            <a:ext cx="2743200" cy="3310128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21615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56832" y="1188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version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291072" y="1615440"/>
            <a:ext cx="248716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 - specialist agents for triage, investigation, and comms, coordinated by a supervisor agent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Slack-native operations - alerts, PITER answers, and approvals directly in the on-call channel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+ Confluence integration - auto-open incident tickets, link runbooks, draft post-mortems into the wiki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Customer-impact correlation - match alerts against support complaints to detect customer-facing impact early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 feeds instead of simulated alerts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65760" y="44988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68580"/>
          </a:xfrm>
          <a:prstGeom prst="rect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Apto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1510"/>
            <a:ext cx="30861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3200" b="1" dirty="0">
                <a:solidFill>
                  <a:srgbClr val="F8FAFC"/>
                </a:solidFill>
                <a:latin typeface="Aptos"/>
              </a:rPr>
              <a:t>Thank you</a:t>
            </a:r>
            <a:endParaRPr lang="en-US" sz="32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9214" y="1200150"/>
            <a:ext cx="30861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dirty="0">
                <a:solidFill>
                  <a:srgbClr val="A7B4C8"/>
                </a:solidFill>
                <a:latin typeface="Aptos"/>
              </a:rPr>
              <a:t>I appreciate your time and feedback.</a:t>
            </a:r>
            <a:endParaRPr lang="en-US" sz="10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82930" y="1680210"/>
            <a:ext cx="3497580" cy="1748790"/>
          </a:xfrm>
          <a:prstGeom prst="roundRect">
            <a:avLst>
              <a:gd name="adj" fmla="val 3137"/>
            </a:avLst>
          </a:prstGeom>
          <a:solidFill>
            <a:srgbClr val="0D1421"/>
          </a:solidFill>
          <a:ln w="12700">
            <a:solidFill>
              <a:srgbClr val="26364F"/>
            </a:solidFill>
            <a:prstDash val="solid"/>
          </a:ln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885950"/>
            <a:ext cx="24003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b="1" dirty="0">
                <a:solidFill>
                  <a:srgbClr val="22D3EE"/>
                </a:solidFill>
                <a:latin typeface="Aptos"/>
              </a:rPr>
              <a:t>PITER AiOps</a:t>
            </a:r>
            <a:endParaRPr lang="en-US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208276"/>
            <a:ext cx="2811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defTabSz="685800"/>
            <a:r>
              <a:rPr lang="en-US" sz="800" dirty="0">
                <a:solidFill>
                  <a:srgbClr val="A7B4C8"/>
                </a:solidFill>
                <a:latin typeface="Aptos"/>
              </a:rPr>
              <a:t>Priority  |  Investigation  |  Triage  |  Escalation  |  Resolution</a:t>
            </a:r>
            <a:endParaRPr lang="en-US" sz="8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551176"/>
            <a:ext cx="27432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defTabSz="685800"/>
            <a:r>
              <a:rPr lang="en-US" sz="1000" dirty="0">
                <a:solidFill>
                  <a:srgbClr val="F8FAFC"/>
                </a:solidFill>
                <a:latin typeface="Aptos"/>
              </a:rPr>
              <a:t>Live demo repo, LinkedIn and contact details are on the right.</a:t>
            </a:r>
            <a:endParaRPr lang="en-US" sz="10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983230"/>
            <a:ext cx="28803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defTabSz="685800"/>
            <a:r>
              <a:rPr lang="en-US" sz="800" dirty="0">
                <a:solidFill>
                  <a:srgbClr val="A7B4C8"/>
                </a:solidFill>
                <a:latin typeface="Aptos"/>
              </a:rPr>
              <a:t>Email: reem.mor3@gmail.com</a:t>
            </a:r>
            <a:endParaRPr lang="en-US" sz="8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26280" y="1508760"/>
            <a:ext cx="1508760" cy="1748790"/>
          </a:xfrm>
          <a:prstGeom prst="roundRect">
            <a:avLst>
              <a:gd name="adj" fmla="val 3636"/>
            </a:avLst>
          </a:prstGeom>
          <a:solidFill>
            <a:srgbClr val="0D1421"/>
          </a:solidFill>
          <a:ln w="12700">
            <a:solidFill>
              <a:srgbClr val="26364F"/>
            </a:solidFill>
            <a:prstDash val="solid"/>
          </a:ln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Aptos"/>
            </a:endParaRPr>
          </a:p>
        </p:txBody>
      </p:sp>
      <p:pic>
        <p:nvPicPr>
          <p:cNvPr id="11" name="Image 0" descr="/mnt/data/github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310" y="1748790"/>
            <a:ext cx="1028700" cy="10287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745736" y="2894076"/>
            <a:ext cx="106299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b="1" dirty="0">
                <a:solidFill>
                  <a:srgbClr val="F8FAFC"/>
                </a:solidFill>
                <a:latin typeface="Aptos"/>
              </a:rPr>
              <a:t>GitHub repo</a:t>
            </a:r>
            <a:endParaRPr lang="en-US" sz="9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12230" y="1508760"/>
            <a:ext cx="1508760" cy="1748790"/>
          </a:xfrm>
          <a:prstGeom prst="roundRect">
            <a:avLst>
              <a:gd name="adj" fmla="val 3636"/>
            </a:avLst>
          </a:prstGeom>
          <a:solidFill>
            <a:srgbClr val="0D1421"/>
          </a:solidFill>
          <a:ln w="12700">
            <a:solidFill>
              <a:srgbClr val="26364F"/>
            </a:solidFill>
            <a:prstDash val="solid"/>
          </a:ln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Aptos"/>
            </a:endParaRPr>
          </a:p>
        </p:txBody>
      </p:sp>
      <p:pic>
        <p:nvPicPr>
          <p:cNvPr id="14" name="Image 1" descr="/mnt/data/linkedin_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260" y="1748790"/>
            <a:ext cx="1028700" cy="10287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52260" y="2894076"/>
            <a:ext cx="10287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b="1" dirty="0">
                <a:solidFill>
                  <a:srgbClr val="F8FAFC"/>
                </a:solidFill>
                <a:latin typeface="Aptos"/>
              </a:rPr>
              <a:t>LinkedIn</a:t>
            </a:r>
            <a:endParaRPr lang="en-US" sz="9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3655314" y="3819906"/>
            <a:ext cx="1845129" cy="59534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Apto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847337" y="3960494"/>
            <a:ext cx="1447201" cy="25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600" b="1" dirty="0">
                <a:solidFill>
                  <a:srgbClr val="22D3EE"/>
                </a:solidFill>
                <a:latin typeface="Aptos"/>
              </a:rPr>
              <a:t>Any questions?</a:t>
            </a:r>
            <a:endParaRPr lang="en-US" sz="16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502DA90C-83AD-C169-61EB-5297BFAB999A}"/>
              </a:ext>
            </a:extLst>
          </p:cNvPr>
          <p:cNvSpPr/>
          <p:nvPr/>
        </p:nvSpPr>
        <p:spPr>
          <a:xfrm>
            <a:off x="365760" y="48143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AI  ·  AI-Augmented Software Engineering — mid-course project</a:t>
            </a:r>
            <a:endParaRPr lang="en-US" sz="900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0F8025E8-9ED0-BD29-317A-66DF9434E1C8}"/>
              </a:ext>
            </a:extLst>
          </p:cNvPr>
          <p:cNvSpPr/>
          <p:nvPr/>
        </p:nvSpPr>
        <p:spPr>
          <a:xfrm>
            <a:off x="6400800" y="48143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Thank you ·   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1022</Words>
  <Application>Microsoft Office PowerPoint</Application>
  <PresentationFormat>On-screen Show (16:9)</PresentationFormat>
  <Paragraphs>158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Trebuchet MS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PITER AI — mid-course project</dc:title>
  <dc:subject>PptxGenJS Presentation</dc:subject>
  <dc:creator>Re'em Mor</dc:creator>
  <cp:lastModifiedBy>Re'Em Mor</cp:lastModifiedBy>
  <cp:revision>8</cp:revision>
  <dcterms:created xsi:type="dcterms:W3CDTF">2026-06-07T20:28:13Z</dcterms:created>
  <dcterms:modified xsi:type="dcterms:W3CDTF">2026-06-10T06:50:38Z</dcterms:modified>
</cp:coreProperties>
</file>